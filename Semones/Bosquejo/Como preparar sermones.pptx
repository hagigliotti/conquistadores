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10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1D7F47-2453-4A00-B73F-E90CD1703337}" type="datetimeFigureOut">
              <a:rPr lang="es-AR" smtClean="0"/>
              <a:pPr/>
              <a:t>08/07/2012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3A7B3-4BC0-4272-94A1-CA86E8459C56}" type="slidenum">
              <a:rPr lang="es-AR" smtClean="0"/>
              <a:pPr/>
              <a:t>‹Nº›</a:t>
            </a:fld>
            <a:endParaRPr lang="es-A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5 Rectángulo"/>
          <p:cNvSpPr/>
          <p:nvPr/>
        </p:nvSpPr>
        <p:spPr>
          <a:xfrm>
            <a:off x="1797146" y="260648"/>
            <a:ext cx="5549724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Cómo preparar </a:t>
            </a:r>
          </a:p>
          <a:p>
            <a:pPr algn="ctr"/>
            <a:r>
              <a:rPr lang="es-ES" sz="5400" b="1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</a:rPr>
              <a:t>mensajes bíblicos?</a:t>
            </a:r>
            <a:endParaRPr lang="es-ES" sz="5400" b="1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3563888" y="2204864"/>
            <a:ext cx="2084440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20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Por</a:t>
            </a:r>
          </a:p>
          <a:p>
            <a:pPr algn="ctr"/>
            <a:r>
              <a:rPr lang="es-ES" sz="20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s-ES" sz="2000" b="0" cap="none" spc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</a:t>
            </a:r>
            <a:r>
              <a:rPr lang="es-ES" sz="20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Javier Holm</a:t>
            </a:r>
            <a:endParaRPr lang="es-ES" sz="20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Rectángulo"/>
          <p:cNvSpPr/>
          <p:nvPr/>
        </p:nvSpPr>
        <p:spPr>
          <a:xfrm>
            <a:off x="1619672" y="188640"/>
            <a:ext cx="68580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3200" b="1" dirty="0">
                <a:solidFill>
                  <a:schemeClr val="bg1"/>
                </a:solidFill>
              </a:rPr>
              <a:t>2 </a:t>
            </a:r>
            <a:r>
              <a:rPr lang="es-AR" sz="3200" b="1" dirty="0" smtClean="0">
                <a:solidFill>
                  <a:schemeClr val="bg1"/>
                </a:solidFill>
              </a:rPr>
              <a:t>Timoteo </a:t>
            </a:r>
            <a:r>
              <a:rPr lang="es-AR" sz="3200" b="1" dirty="0">
                <a:solidFill>
                  <a:schemeClr val="bg1"/>
                </a:solidFill>
              </a:rPr>
              <a:t>4:1-2  Te encarezco delante de Dios y del Señor Jesucristo, que juzgará a los vivos y a los muertos en su manifestación y en su reino,  </a:t>
            </a:r>
            <a:r>
              <a:rPr lang="es-AR" sz="3200" b="1" baseline="30000" dirty="0">
                <a:solidFill>
                  <a:schemeClr val="bg1"/>
                </a:solidFill>
              </a:rPr>
              <a:t>2</a:t>
            </a:r>
            <a:r>
              <a:rPr lang="es-AR" sz="3200" b="1" dirty="0">
                <a:solidFill>
                  <a:schemeClr val="bg1"/>
                </a:solidFill>
              </a:rPr>
              <a:t> que prediques la palabra; </a:t>
            </a:r>
            <a:endParaRPr lang="es-AR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384"/>
            <a:ext cx="9144000" cy="6858000"/>
          </a:xfrm>
          <a:prstGeom prst="rect">
            <a:avLst/>
          </a:prstGeom>
        </p:spPr>
      </p:pic>
      <p:sp>
        <p:nvSpPr>
          <p:cNvPr id="3" name="2 Rectángulo"/>
          <p:cNvSpPr/>
          <p:nvPr/>
        </p:nvSpPr>
        <p:spPr>
          <a:xfrm>
            <a:off x="1619672" y="188640"/>
            <a:ext cx="685800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AR" sz="4400" b="1" dirty="0" smtClean="0">
                <a:solidFill>
                  <a:schemeClr val="bg1"/>
                </a:solidFill>
              </a:rPr>
              <a:t>Características</a:t>
            </a:r>
            <a:r>
              <a:rPr lang="en-US" sz="4400" b="1" dirty="0" smtClean="0">
                <a:solidFill>
                  <a:schemeClr val="bg1"/>
                </a:solidFill>
              </a:rPr>
              <a:t> del </a:t>
            </a:r>
            <a:r>
              <a:rPr lang="es-AR" sz="4400" b="1" dirty="0" smtClean="0">
                <a:solidFill>
                  <a:schemeClr val="bg1"/>
                </a:solidFill>
              </a:rPr>
              <a:t>Sermón</a:t>
            </a:r>
          </a:p>
          <a:p>
            <a:pPr>
              <a:buFont typeface="Arial" pitchFamily="34" charset="0"/>
              <a:buChar char="•"/>
            </a:pPr>
            <a:endParaRPr lang="en-US" sz="3200" b="1" dirty="0" smtClean="0">
              <a:solidFill>
                <a:schemeClr val="bg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3200" b="1" dirty="0" err="1" smtClean="0">
                <a:solidFill>
                  <a:schemeClr val="bg1"/>
                </a:solidFill>
              </a:rPr>
              <a:t>Cristocéntrico</a:t>
            </a:r>
            <a:endParaRPr lang="en-US" sz="3200" b="1" dirty="0" smtClean="0">
              <a:solidFill>
                <a:schemeClr val="bg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3200" b="1" dirty="0" err="1" smtClean="0">
                <a:solidFill>
                  <a:schemeClr val="bg1"/>
                </a:solidFill>
              </a:rPr>
              <a:t>Debe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basarse</a:t>
            </a:r>
            <a:r>
              <a:rPr lang="en-US" sz="3200" b="1" dirty="0" smtClean="0">
                <a:solidFill>
                  <a:schemeClr val="bg1"/>
                </a:solidFill>
              </a:rPr>
              <a:t> en la </a:t>
            </a:r>
            <a:r>
              <a:rPr lang="en-US" sz="3200" b="1" dirty="0" err="1" smtClean="0">
                <a:solidFill>
                  <a:schemeClr val="bg1"/>
                </a:solidFill>
              </a:rPr>
              <a:t>Bilbia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3200" b="1" dirty="0" smtClean="0">
                <a:solidFill>
                  <a:schemeClr val="bg1"/>
                </a:solidFill>
              </a:rPr>
              <a:t>Un solo </a:t>
            </a:r>
            <a:r>
              <a:rPr lang="en-US" sz="3200" b="1" dirty="0" err="1" smtClean="0">
                <a:solidFill>
                  <a:schemeClr val="bg1"/>
                </a:solidFill>
              </a:rPr>
              <a:t>tema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por</a:t>
            </a:r>
            <a:r>
              <a:rPr lang="en-US" sz="3200" b="1" dirty="0" smtClean="0">
                <a:solidFill>
                  <a:schemeClr val="bg1"/>
                </a:solidFill>
              </a:rPr>
              <a:t> </a:t>
            </a:r>
            <a:r>
              <a:rPr lang="en-US" sz="3200" b="1" dirty="0" err="1" smtClean="0">
                <a:solidFill>
                  <a:schemeClr val="bg1"/>
                </a:solidFill>
              </a:rPr>
              <a:t>sermón</a:t>
            </a:r>
            <a:endParaRPr lang="en-US" sz="3200" b="1" dirty="0" smtClean="0">
              <a:solidFill>
                <a:schemeClr val="bg1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en-US" sz="3200" b="1" dirty="0" err="1" smtClean="0">
                <a:solidFill>
                  <a:schemeClr val="bg1"/>
                </a:solidFill>
              </a:rPr>
              <a:t>Enfocado</a:t>
            </a:r>
            <a:r>
              <a:rPr lang="en-US" sz="3200" b="1" dirty="0" smtClean="0">
                <a:solidFill>
                  <a:schemeClr val="bg1"/>
                </a:solidFill>
              </a:rPr>
              <a:t> a la </a:t>
            </a:r>
            <a:r>
              <a:rPr lang="en-US" sz="3200" b="1" dirty="0" err="1" smtClean="0">
                <a:solidFill>
                  <a:schemeClr val="bg1"/>
                </a:solidFill>
              </a:rPr>
              <a:t>necesidad</a:t>
            </a:r>
            <a:r>
              <a:rPr lang="en-US" sz="3200" b="1" dirty="0" smtClean="0">
                <a:solidFill>
                  <a:schemeClr val="bg1"/>
                </a:solidFill>
              </a:rPr>
              <a:t> de la </a:t>
            </a:r>
            <a:r>
              <a:rPr lang="en-US" sz="3200" b="1" dirty="0" err="1" smtClean="0">
                <a:solidFill>
                  <a:schemeClr val="bg1"/>
                </a:solidFill>
              </a:rPr>
              <a:t>ilgesia</a:t>
            </a:r>
            <a:endParaRPr lang="en-US" sz="3200" b="1" dirty="0" smtClean="0">
              <a:solidFill>
                <a:schemeClr val="bg1"/>
              </a:solidFill>
            </a:endParaRPr>
          </a:p>
          <a:p>
            <a:pPr>
              <a:buFont typeface="Arial" pitchFamily="34" charset="0"/>
              <a:buChar char="•"/>
            </a:pPr>
            <a:endParaRPr lang="en-US" sz="3200" b="1" dirty="0" smtClean="0">
              <a:solidFill>
                <a:schemeClr val="bg1"/>
              </a:solidFill>
            </a:endParaRPr>
          </a:p>
          <a:p>
            <a:pPr algn="ctr">
              <a:buFont typeface="Arial" pitchFamily="34" charset="0"/>
              <a:buChar char="•"/>
            </a:pPr>
            <a:endParaRPr lang="es-AR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1475656" y="404664"/>
            <a:ext cx="66247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dirty="0" smtClean="0">
                <a:solidFill>
                  <a:schemeClr val="bg1"/>
                </a:solidFill>
              </a:rPr>
              <a:t>Duración</a:t>
            </a:r>
          </a:p>
          <a:p>
            <a:pPr algn="ctr"/>
            <a:endParaRPr lang="en-US" sz="3200" dirty="0">
              <a:solidFill>
                <a:schemeClr val="bg1"/>
              </a:solidFill>
            </a:endParaRPr>
          </a:p>
          <a:p>
            <a:pPr algn="ctr"/>
            <a:r>
              <a:rPr lang="en-US" sz="2800" dirty="0" smtClean="0">
                <a:solidFill>
                  <a:schemeClr val="bg1"/>
                </a:solidFill>
              </a:rPr>
              <a:t>30 a 45 </a:t>
            </a:r>
            <a:r>
              <a:rPr lang="es-AR" sz="2800" dirty="0" smtClean="0">
                <a:solidFill>
                  <a:schemeClr val="bg1"/>
                </a:solidFill>
              </a:rPr>
              <a:t>minutos</a:t>
            </a:r>
            <a:endParaRPr lang="es-A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609200" y="581779"/>
            <a:ext cx="491512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AR" sz="4800" dirty="0" smtClean="0">
                <a:solidFill>
                  <a:schemeClr val="bg1"/>
                </a:solidFill>
              </a:rPr>
              <a:t>Tipos</a:t>
            </a:r>
            <a:r>
              <a:rPr lang="en-US" sz="4800" dirty="0" smtClean="0">
                <a:solidFill>
                  <a:schemeClr val="bg1"/>
                </a:solidFill>
              </a:rPr>
              <a:t> de </a:t>
            </a:r>
            <a:r>
              <a:rPr lang="es-AR" sz="4800" dirty="0" smtClean="0">
                <a:solidFill>
                  <a:schemeClr val="bg1"/>
                </a:solidFill>
              </a:rPr>
              <a:t>Sermones</a:t>
            </a:r>
            <a:endParaRPr lang="es-AR" sz="48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475656" y="1772816"/>
            <a:ext cx="59766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 smtClean="0">
                <a:solidFill>
                  <a:schemeClr val="bg1"/>
                </a:solidFill>
              </a:rPr>
              <a:t>Temático </a:t>
            </a:r>
          </a:p>
          <a:p>
            <a:r>
              <a:rPr lang="es-AR" sz="3200" dirty="0" smtClean="0">
                <a:solidFill>
                  <a:schemeClr val="bg1"/>
                </a:solidFill>
              </a:rPr>
              <a:t>Textual </a:t>
            </a:r>
          </a:p>
          <a:p>
            <a:r>
              <a:rPr lang="es-AR" sz="3200" dirty="0" smtClean="0">
                <a:solidFill>
                  <a:schemeClr val="bg1"/>
                </a:solidFill>
              </a:rPr>
              <a:t>Expositivo</a:t>
            </a:r>
            <a:endParaRPr lang="es-AR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1979712" y="404664"/>
            <a:ext cx="4824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dirty="0" smtClean="0">
                <a:solidFill>
                  <a:schemeClr val="bg1"/>
                </a:solidFill>
              </a:rPr>
              <a:t>Temático</a:t>
            </a:r>
            <a:endParaRPr lang="es-AR" sz="48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611560" y="1556792"/>
            <a:ext cx="78488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3200" dirty="0" smtClean="0">
                <a:solidFill>
                  <a:schemeClr val="bg1"/>
                </a:solidFill>
              </a:rPr>
              <a:t>Un sermón temático es aquel cuyas principales divisiones se derivan del tema con independencia del seguimiento de un texto. </a:t>
            </a:r>
            <a:r>
              <a:rPr lang="es-AR" sz="2000" dirty="0" smtClean="0">
                <a:solidFill>
                  <a:schemeClr val="bg1"/>
                </a:solidFill>
              </a:rPr>
              <a:t>James Braga</a:t>
            </a:r>
            <a:r>
              <a:rPr lang="en-US" sz="3200" dirty="0" smtClean="0">
                <a:solidFill>
                  <a:schemeClr val="bg1"/>
                </a:solidFill>
              </a:rPr>
              <a:t> </a:t>
            </a:r>
            <a:endParaRPr lang="es-AR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13252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771800" y="332656"/>
            <a:ext cx="33123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</a:rPr>
              <a:t>Textual</a:t>
            </a:r>
            <a:endParaRPr lang="es-AR" sz="44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611560" y="1124744"/>
            <a:ext cx="842493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 smtClean="0">
                <a:solidFill>
                  <a:schemeClr val="bg1"/>
                </a:solidFill>
              </a:rPr>
              <a:t>Un sermón textual es aquel en el cual las principales divisiones se derivan de un texto consistente en un breve pasaje de las Escrituras. Cada una de estas divisiones son utilizadas a continuación como una línea de sugerencia, y el texto provee tema del sermón</a:t>
            </a:r>
            <a:endParaRPr lang="es-A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>
            <a:lum bright="-4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339752" y="404664"/>
            <a:ext cx="4392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400" dirty="0" smtClean="0">
                <a:solidFill>
                  <a:schemeClr val="bg1"/>
                </a:solidFill>
              </a:rPr>
              <a:t>Expositivo</a:t>
            </a:r>
            <a:r>
              <a:rPr lang="en-US" sz="4800" dirty="0" smtClean="0">
                <a:solidFill>
                  <a:schemeClr val="bg1"/>
                </a:solidFill>
              </a:rPr>
              <a:t> </a:t>
            </a:r>
            <a:endParaRPr lang="es-AR" sz="48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691680" y="1268760"/>
            <a:ext cx="60486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bg1"/>
                </a:solidFill>
              </a:rPr>
              <a:t>Un sermón expositivo  es aquel en el que se interpreta una porción mas o menos extensa de las Escrituras en relación con un tema o asunto. El grueso del material para el sermón se toma directamente del pasaje y el bosquejo consiste en una serie de ideas progresivas, centradas </a:t>
            </a:r>
            <a:r>
              <a:rPr lang="es-AR" sz="2400" dirty="0" err="1" smtClean="0">
                <a:solidFill>
                  <a:schemeClr val="bg1"/>
                </a:solidFill>
              </a:rPr>
              <a:t>alrededorde</a:t>
            </a:r>
            <a:r>
              <a:rPr lang="es-AR" sz="2400" dirty="0" smtClean="0">
                <a:solidFill>
                  <a:schemeClr val="bg1"/>
                </a:solidFill>
              </a:rPr>
              <a:t> aquella idea principal</a:t>
            </a:r>
            <a:endParaRPr lang="es-AR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267744" y="404664"/>
            <a:ext cx="57606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000" dirty="0" smtClean="0">
                <a:solidFill>
                  <a:schemeClr val="bg1"/>
                </a:solidFill>
              </a:rPr>
              <a:t>El sermón debe tener una estructura</a:t>
            </a:r>
            <a:endParaRPr lang="es-AR" sz="4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>
            <a:lum bright="-4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1691680" y="188640"/>
            <a:ext cx="4464496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AR" sz="4400" dirty="0" smtClean="0">
                <a:solidFill>
                  <a:schemeClr val="bg1"/>
                </a:solidFill>
              </a:rPr>
              <a:t>Título</a:t>
            </a:r>
          </a:p>
          <a:p>
            <a:pPr>
              <a:buFont typeface="Arial" pitchFamily="34" charset="0"/>
              <a:buChar char="•"/>
            </a:pPr>
            <a:r>
              <a:rPr lang="es-AR" sz="4400" dirty="0" smtClean="0">
                <a:solidFill>
                  <a:schemeClr val="bg1"/>
                </a:solidFill>
              </a:rPr>
              <a:t>Introducción</a:t>
            </a:r>
          </a:p>
          <a:p>
            <a:pPr>
              <a:buFont typeface="Arial" pitchFamily="34" charset="0"/>
              <a:buChar char="•"/>
            </a:pPr>
            <a:r>
              <a:rPr lang="es-AR" sz="4400" dirty="0" smtClean="0">
                <a:solidFill>
                  <a:schemeClr val="bg1"/>
                </a:solidFill>
              </a:rPr>
              <a:t>Proposición</a:t>
            </a:r>
          </a:p>
          <a:p>
            <a:pPr>
              <a:buFont typeface="Arial" pitchFamily="34" charset="0"/>
              <a:buChar char="•"/>
            </a:pPr>
            <a:r>
              <a:rPr lang="es-AR" sz="4400" dirty="0" smtClean="0">
                <a:solidFill>
                  <a:schemeClr val="bg1"/>
                </a:solidFill>
              </a:rPr>
              <a:t>Divisiones</a:t>
            </a:r>
          </a:p>
          <a:p>
            <a:pPr>
              <a:buFont typeface="Arial" pitchFamily="34" charset="0"/>
              <a:buChar char="•"/>
            </a:pPr>
            <a:r>
              <a:rPr lang="es-AR" sz="4400" dirty="0" smtClean="0">
                <a:solidFill>
                  <a:schemeClr val="bg1"/>
                </a:solidFill>
              </a:rPr>
              <a:t>Desarrollo</a:t>
            </a:r>
          </a:p>
          <a:p>
            <a:pPr>
              <a:buFont typeface="Arial" pitchFamily="34" charset="0"/>
              <a:buChar char="•"/>
            </a:pPr>
            <a:r>
              <a:rPr lang="es-AR" sz="4400" dirty="0" smtClean="0">
                <a:solidFill>
                  <a:schemeClr val="bg1"/>
                </a:solidFill>
              </a:rPr>
              <a:t>Ilustraciones</a:t>
            </a:r>
          </a:p>
          <a:p>
            <a:pPr>
              <a:buFont typeface="Arial" pitchFamily="34" charset="0"/>
              <a:buChar char="•"/>
            </a:pPr>
            <a:r>
              <a:rPr lang="es-AR" sz="4400" dirty="0" smtClean="0">
                <a:solidFill>
                  <a:schemeClr val="bg1"/>
                </a:solidFill>
              </a:rPr>
              <a:t>Aplicación</a:t>
            </a:r>
          </a:p>
          <a:p>
            <a:pPr>
              <a:buFont typeface="Arial" pitchFamily="34" charset="0"/>
              <a:buChar char="•"/>
            </a:pPr>
            <a:r>
              <a:rPr lang="es-AR" sz="4400" dirty="0" smtClean="0">
                <a:solidFill>
                  <a:schemeClr val="bg1"/>
                </a:solidFill>
              </a:rPr>
              <a:t> Conclusión</a:t>
            </a:r>
          </a:p>
          <a:p>
            <a:pPr>
              <a:buFont typeface="Arial" pitchFamily="34" charset="0"/>
              <a:buChar char="•"/>
            </a:pPr>
            <a:r>
              <a:rPr lang="es-AR" sz="4400" dirty="0" smtClean="0">
                <a:solidFill>
                  <a:schemeClr val="bg1"/>
                </a:solidFill>
              </a:rPr>
              <a:t>Recapitulación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</a:p>
          <a:p>
            <a:endParaRPr lang="es-A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>
            <a:lum bright="-4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1835696" y="404664"/>
            <a:ext cx="5184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dirty="0" smtClean="0">
                <a:solidFill>
                  <a:schemeClr val="bg1"/>
                </a:solidFill>
              </a:rPr>
              <a:t>Título</a:t>
            </a:r>
            <a:endParaRPr lang="es-AR" sz="48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619672" y="1041117"/>
            <a:ext cx="7416824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AR" sz="2400" dirty="0" smtClean="0">
                <a:solidFill>
                  <a:schemeClr val="bg1"/>
                </a:solidFill>
              </a:rPr>
              <a:t> Es el último punto a definir</a:t>
            </a:r>
          </a:p>
          <a:p>
            <a:pPr>
              <a:buFont typeface="Arial" pitchFamily="34" charset="0"/>
              <a:buChar char="•"/>
            </a:pPr>
            <a:r>
              <a:rPr lang="es-AR" sz="2400" dirty="0" smtClean="0">
                <a:solidFill>
                  <a:schemeClr val="bg1"/>
                </a:solidFill>
              </a:rPr>
              <a:t>Debe ser pertinente al tema</a:t>
            </a:r>
          </a:p>
          <a:p>
            <a:pPr>
              <a:buFont typeface="Arial" pitchFamily="34" charset="0"/>
              <a:buChar char="•"/>
            </a:pPr>
            <a:r>
              <a:rPr lang="es-AR" sz="2400" dirty="0" smtClean="0">
                <a:solidFill>
                  <a:schemeClr val="bg1"/>
                </a:solidFill>
              </a:rPr>
              <a:t>Debe ser interesante</a:t>
            </a:r>
          </a:p>
          <a:p>
            <a:pPr>
              <a:buFont typeface="Arial" pitchFamily="34" charset="0"/>
              <a:buChar char="•"/>
            </a:pPr>
            <a:r>
              <a:rPr lang="es-AR" sz="2400" dirty="0" smtClean="0">
                <a:solidFill>
                  <a:schemeClr val="bg1"/>
                </a:solidFill>
              </a:rPr>
              <a:t>Debe estar en </a:t>
            </a:r>
            <a:r>
              <a:rPr lang="es-AR" sz="2400" dirty="0" err="1" smtClean="0">
                <a:solidFill>
                  <a:schemeClr val="bg1"/>
                </a:solidFill>
              </a:rPr>
              <a:t>armonia</a:t>
            </a:r>
            <a:r>
              <a:rPr lang="es-AR" sz="2400" dirty="0" smtClean="0">
                <a:solidFill>
                  <a:schemeClr val="bg1"/>
                </a:solidFill>
              </a:rPr>
              <a:t> con la dignidad del </a:t>
            </a:r>
            <a:r>
              <a:rPr lang="es-AR" sz="2400" dirty="0" err="1" smtClean="0">
                <a:solidFill>
                  <a:schemeClr val="bg1"/>
                </a:solidFill>
              </a:rPr>
              <a:t>púltpito</a:t>
            </a:r>
            <a:r>
              <a:rPr lang="es-AR" sz="2400" dirty="0" smtClean="0">
                <a:solidFill>
                  <a:schemeClr val="bg1"/>
                </a:solidFill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s-AR" sz="2400" dirty="0" smtClean="0">
                <a:solidFill>
                  <a:schemeClr val="bg1"/>
                </a:solidFill>
              </a:rPr>
              <a:t>Debe ser breve</a:t>
            </a:r>
          </a:p>
          <a:p>
            <a:pPr>
              <a:buFont typeface="Arial" pitchFamily="34" charset="0"/>
              <a:buChar char="•"/>
            </a:pPr>
            <a:r>
              <a:rPr lang="es-AR" sz="2400" dirty="0" smtClean="0">
                <a:solidFill>
                  <a:schemeClr val="bg1"/>
                </a:solidFill>
              </a:rPr>
              <a:t>Puede ser en forma de afirmación, interrogación o exclamación</a:t>
            </a:r>
          </a:p>
          <a:p>
            <a:pPr>
              <a:buFont typeface="Arial" pitchFamily="34" charset="0"/>
              <a:buChar char="•"/>
            </a:pPr>
            <a:r>
              <a:rPr lang="es-AR" sz="2400" dirty="0" smtClean="0">
                <a:solidFill>
                  <a:schemeClr val="bg1"/>
                </a:solidFill>
              </a:rPr>
              <a:t>Puede ser una </a:t>
            </a:r>
            <a:r>
              <a:rPr lang="es-AR" sz="2400" dirty="0" err="1" smtClean="0">
                <a:solidFill>
                  <a:schemeClr val="bg1"/>
                </a:solidFill>
              </a:rPr>
              <a:t>frace</a:t>
            </a:r>
            <a:r>
              <a:rPr lang="es-AR" sz="2400" dirty="0" smtClean="0">
                <a:solidFill>
                  <a:schemeClr val="bg1"/>
                </a:solidFill>
              </a:rPr>
              <a:t> seguida de una pregunta</a:t>
            </a:r>
          </a:p>
          <a:p>
            <a:endParaRPr lang="es-A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195736" y="332656"/>
            <a:ext cx="48965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dirty="0" smtClean="0">
                <a:solidFill>
                  <a:schemeClr val="bg1"/>
                </a:solidFill>
              </a:rPr>
              <a:t>Introducción</a:t>
            </a:r>
            <a:endParaRPr lang="es-AR" sz="48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2555776" y="1628800"/>
            <a:ext cx="626469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 smtClean="0">
                <a:solidFill>
                  <a:schemeClr val="bg1"/>
                </a:solidFill>
              </a:rPr>
              <a:t>Propósito de la introducción:</a:t>
            </a:r>
          </a:p>
          <a:p>
            <a:pPr>
              <a:buFont typeface="Arial" pitchFamily="34" charset="0"/>
              <a:buChar char="•"/>
            </a:pPr>
            <a:r>
              <a:rPr lang="es-AR" sz="2800" dirty="0" smtClean="0">
                <a:solidFill>
                  <a:schemeClr val="bg1"/>
                </a:solidFill>
              </a:rPr>
              <a:t> Asegurar la buena voluntad del oyente</a:t>
            </a:r>
          </a:p>
          <a:p>
            <a:pPr>
              <a:buFont typeface="Arial" pitchFamily="34" charset="0"/>
              <a:buChar char="•"/>
            </a:pPr>
            <a:r>
              <a:rPr lang="es-AR" sz="2800" dirty="0" smtClean="0">
                <a:solidFill>
                  <a:schemeClr val="bg1"/>
                </a:solidFill>
              </a:rPr>
              <a:t>Generar interés en el tema</a:t>
            </a:r>
          </a:p>
          <a:p>
            <a:endParaRPr lang="es-A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1691680" y="404664"/>
            <a:ext cx="64807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dirty="0" smtClean="0">
                <a:solidFill>
                  <a:schemeClr val="bg1"/>
                </a:solidFill>
              </a:rPr>
              <a:t>Proposición</a:t>
            </a:r>
            <a:r>
              <a:rPr lang="en-US" sz="4800" dirty="0" smtClean="0">
                <a:solidFill>
                  <a:schemeClr val="bg1"/>
                </a:solidFill>
              </a:rPr>
              <a:t> </a:t>
            </a:r>
            <a:endParaRPr lang="es-AR" sz="48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259632" y="1556792"/>
            <a:ext cx="691276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800" dirty="0" smtClean="0">
                <a:solidFill>
                  <a:schemeClr val="bg1"/>
                </a:solidFill>
              </a:rPr>
              <a:t>Es una  afirmación de la principal lección Espiritual.</a:t>
            </a:r>
          </a:p>
          <a:p>
            <a:r>
              <a:rPr lang="es-AR" sz="2800" dirty="0" smtClean="0">
                <a:solidFill>
                  <a:schemeClr val="bg1"/>
                </a:solidFill>
              </a:rPr>
              <a:t>Es fundamental ya que esta le da a la congregación el curso del sermón</a:t>
            </a:r>
          </a:p>
          <a:p>
            <a:endParaRPr lang="es-AR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>
            <a:lum bright="-4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195736" y="476672"/>
            <a:ext cx="55446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chemeClr val="bg1"/>
                </a:solidFill>
              </a:rPr>
              <a:t>Las </a:t>
            </a:r>
            <a:r>
              <a:rPr lang="en-US" sz="4800" dirty="0" err="1" smtClean="0">
                <a:solidFill>
                  <a:schemeClr val="bg1"/>
                </a:solidFill>
              </a:rPr>
              <a:t>divisiones</a:t>
            </a:r>
            <a:endParaRPr lang="es-AR" sz="48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251520" y="1242045"/>
            <a:ext cx="8424936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200" b="1" dirty="0" smtClean="0">
                <a:solidFill>
                  <a:schemeClr val="bg1"/>
                </a:solidFill>
              </a:rPr>
              <a:t>Valor de las divisiones para el predicador</a:t>
            </a:r>
          </a:p>
          <a:p>
            <a:pPr>
              <a:buFont typeface="Arial" pitchFamily="34" charset="0"/>
              <a:buChar char="•"/>
            </a:pPr>
            <a:r>
              <a:rPr lang="es-AR" dirty="0" smtClean="0">
                <a:solidFill>
                  <a:schemeClr val="bg1"/>
                </a:solidFill>
              </a:rPr>
              <a:t>Promueven la claridad de pensamiento</a:t>
            </a:r>
          </a:p>
          <a:p>
            <a:pPr>
              <a:buFont typeface="Arial" pitchFamily="34" charset="0"/>
              <a:buChar char="•"/>
            </a:pPr>
            <a:r>
              <a:rPr lang="es-AR" dirty="0" smtClean="0">
                <a:solidFill>
                  <a:schemeClr val="bg1"/>
                </a:solidFill>
              </a:rPr>
              <a:t>Promueve la unidad de pensamiento</a:t>
            </a:r>
          </a:p>
          <a:p>
            <a:pPr>
              <a:buFont typeface="Arial" pitchFamily="34" charset="0"/>
              <a:buChar char="•"/>
            </a:pPr>
            <a:r>
              <a:rPr lang="es-AR" dirty="0" smtClean="0">
                <a:solidFill>
                  <a:schemeClr val="bg1"/>
                </a:solidFill>
              </a:rPr>
              <a:t>Posibilita recordar las partes principales</a:t>
            </a:r>
          </a:p>
          <a:p>
            <a:endParaRPr lang="es-AR" dirty="0">
              <a:solidFill>
                <a:schemeClr val="bg1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179512" y="2636912"/>
            <a:ext cx="8424936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200" b="1" dirty="0" smtClean="0">
                <a:solidFill>
                  <a:schemeClr val="bg1"/>
                </a:solidFill>
              </a:rPr>
              <a:t>Valor de las divisiones para la congregación</a:t>
            </a:r>
          </a:p>
          <a:p>
            <a:pPr>
              <a:buFont typeface="Arial" pitchFamily="34" charset="0"/>
              <a:buChar char="•"/>
            </a:pPr>
            <a:r>
              <a:rPr lang="es-AR" dirty="0" smtClean="0">
                <a:solidFill>
                  <a:schemeClr val="bg1"/>
                </a:solidFill>
              </a:rPr>
              <a:t> Clarifica los principales puntos del sermón</a:t>
            </a:r>
          </a:p>
          <a:p>
            <a:pPr>
              <a:buFont typeface="Arial" pitchFamily="34" charset="0"/>
              <a:buChar char="•"/>
            </a:pPr>
            <a:r>
              <a:rPr lang="es-AR" dirty="0" smtClean="0">
                <a:solidFill>
                  <a:schemeClr val="bg1"/>
                </a:solidFill>
              </a:rPr>
              <a:t>Ayudan a recordar los principales aspectos del sermón</a:t>
            </a:r>
          </a:p>
          <a:p>
            <a:endParaRPr lang="es-A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2195736" y="620688"/>
            <a:ext cx="53285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dirty="0" smtClean="0">
                <a:solidFill>
                  <a:schemeClr val="bg1"/>
                </a:solidFill>
              </a:rPr>
              <a:t>Desarrollo</a:t>
            </a:r>
            <a:endParaRPr lang="es-AR" sz="48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331640" y="1700808"/>
            <a:ext cx="74888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400" dirty="0" smtClean="0">
                <a:solidFill>
                  <a:schemeClr val="bg1"/>
                </a:solidFill>
              </a:rPr>
              <a:t>Es en este punto donde deben volcar todo el conocimiento y la investigación hecha sobre el tema central.</a:t>
            </a:r>
          </a:p>
          <a:p>
            <a:r>
              <a:rPr lang="es-AR" sz="2400" dirty="0" smtClean="0">
                <a:solidFill>
                  <a:schemeClr val="bg1"/>
                </a:solidFill>
              </a:rPr>
              <a:t>Las divisiones son solo el esqueleto en el cual se </a:t>
            </a:r>
            <a:r>
              <a:rPr lang="es-AR" sz="2400" dirty="0" err="1" smtClean="0">
                <a:solidFill>
                  <a:schemeClr val="bg1"/>
                </a:solidFill>
              </a:rPr>
              <a:t>sontendrá</a:t>
            </a:r>
            <a:r>
              <a:rPr lang="es-AR" sz="2400" dirty="0" smtClean="0">
                <a:solidFill>
                  <a:schemeClr val="bg1"/>
                </a:solidFill>
              </a:rPr>
              <a:t> todo el contenido</a:t>
            </a:r>
            <a:endParaRPr lang="es-AR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1187624" y="548680"/>
            <a:ext cx="7344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dirty="0" smtClean="0">
                <a:solidFill>
                  <a:schemeClr val="bg1"/>
                </a:solidFill>
              </a:rPr>
              <a:t>Ilustraciones</a:t>
            </a:r>
            <a:endParaRPr lang="es-AR" sz="48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2627784" y="1377930"/>
            <a:ext cx="7128792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s-AR" sz="3200" dirty="0" smtClean="0">
                <a:solidFill>
                  <a:schemeClr val="bg1"/>
                </a:solidFill>
              </a:rPr>
              <a:t>Dan claridad al sermón</a:t>
            </a:r>
          </a:p>
          <a:p>
            <a:pPr>
              <a:buFont typeface="Arial" pitchFamily="34" charset="0"/>
              <a:buChar char="•"/>
            </a:pPr>
            <a:r>
              <a:rPr lang="es-AR" sz="3200" dirty="0" smtClean="0">
                <a:solidFill>
                  <a:schemeClr val="bg1"/>
                </a:solidFill>
              </a:rPr>
              <a:t>Dan interés al sermón</a:t>
            </a:r>
          </a:p>
          <a:p>
            <a:pPr>
              <a:buFont typeface="Arial" pitchFamily="34" charset="0"/>
              <a:buChar char="•"/>
            </a:pPr>
            <a:r>
              <a:rPr lang="es-AR" sz="3200" dirty="0" smtClean="0">
                <a:solidFill>
                  <a:schemeClr val="bg1"/>
                </a:solidFill>
              </a:rPr>
              <a:t>Dan vivacidad a la verdad </a:t>
            </a:r>
          </a:p>
          <a:p>
            <a:pPr>
              <a:buFont typeface="Arial" pitchFamily="34" charset="0"/>
              <a:buChar char="•"/>
            </a:pPr>
            <a:r>
              <a:rPr lang="es-AR" sz="3200" dirty="0" smtClean="0">
                <a:solidFill>
                  <a:schemeClr val="bg1"/>
                </a:solidFill>
              </a:rPr>
              <a:t>Dan </a:t>
            </a:r>
            <a:r>
              <a:rPr lang="es-AR" sz="3200" dirty="0" err="1" smtClean="0">
                <a:solidFill>
                  <a:schemeClr val="bg1"/>
                </a:solidFill>
              </a:rPr>
              <a:t>enfasis</a:t>
            </a:r>
            <a:r>
              <a:rPr lang="es-AR" sz="3200" dirty="0" smtClean="0">
                <a:solidFill>
                  <a:schemeClr val="bg1"/>
                </a:solidFill>
              </a:rPr>
              <a:t> a la verdad</a:t>
            </a:r>
          </a:p>
          <a:p>
            <a:endParaRPr lang="es-A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4 Imagen" descr="BIBLIA10.JPG"/>
          <p:cNvPicPr>
            <a:picLocks noChangeAspect="1"/>
          </p:cNvPicPr>
          <p:nvPr/>
        </p:nvPicPr>
        <p:blipFill>
          <a:blip r:embed="rId2" cstate="print">
            <a:lum bright="-40000"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2 CuadroTexto"/>
          <p:cNvSpPr txBox="1"/>
          <p:nvPr/>
        </p:nvSpPr>
        <p:spPr>
          <a:xfrm>
            <a:off x="1475656" y="548680"/>
            <a:ext cx="6480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4800" dirty="0" smtClean="0">
                <a:solidFill>
                  <a:schemeClr val="bg1"/>
                </a:solidFill>
              </a:rPr>
              <a:t>Cómo se usas las ilustraciones?</a:t>
            </a:r>
            <a:endParaRPr lang="es-AR" sz="4800" dirty="0">
              <a:solidFill>
                <a:schemeClr val="bg1"/>
              </a:solidFill>
            </a:endParaRPr>
          </a:p>
        </p:txBody>
      </p:sp>
      <p:sp>
        <p:nvSpPr>
          <p:cNvPr id="4" name="3 CuadroTexto"/>
          <p:cNvSpPr txBox="1"/>
          <p:nvPr/>
        </p:nvSpPr>
        <p:spPr>
          <a:xfrm>
            <a:off x="1835696" y="2276872"/>
            <a:ext cx="612068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Usar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ilustraciones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adecuadas</a:t>
            </a: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err="1" smtClean="0">
                <a:solidFill>
                  <a:schemeClr val="bg1"/>
                </a:solidFill>
              </a:rPr>
              <a:t>Usar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una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ilustración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clara</a:t>
            </a: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err="1" smtClean="0">
                <a:solidFill>
                  <a:schemeClr val="bg1"/>
                </a:solidFill>
              </a:rPr>
              <a:t>Usar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ilustraciones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creibles</a:t>
            </a: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err="1" smtClean="0">
                <a:solidFill>
                  <a:schemeClr val="bg1"/>
                </a:solidFill>
              </a:rPr>
              <a:t>Exponer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adecuadamente</a:t>
            </a:r>
            <a:r>
              <a:rPr lang="en-US" sz="2400" dirty="0" smtClean="0">
                <a:solidFill>
                  <a:schemeClr val="bg1"/>
                </a:solidFill>
              </a:rPr>
              <a:t> los </a:t>
            </a:r>
            <a:r>
              <a:rPr lang="en-US" sz="2400" dirty="0" err="1" smtClean="0">
                <a:solidFill>
                  <a:schemeClr val="bg1"/>
                </a:solidFill>
              </a:rPr>
              <a:t>hechos</a:t>
            </a:r>
            <a:r>
              <a:rPr lang="en-US" sz="2400" dirty="0" smtClean="0">
                <a:solidFill>
                  <a:schemeClr val="bg1"/>
                </a:solidFill>
              </a:rPr>
              <a:t> de la </a:t>
            </a:r>
            <a:r>
              <a:rPr lang="en-US" sz="2400" dirty="0" err="1" smtClean="0">
                <a:solidFill>
                  <a:schemeClr val="bg1"/>
                </a:solidFill>
              </a:rPr>
              <a:t>ilustración</a:t>
            </a:r>
            <a:endParaRPr lang="en-US" sz="2400" dirty="0" smtClean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Deben se </a:t>
            </a:r>
            <a:r>
              <a:rPr lang="en-US" sz="2400" dirty="0" err="1" smtClean="0">
                <a:solidFill>
                  <a:schemeClr val="bg1"/>
                </a:solidFill>
              </a:rPr>
              <a:t>breves</a:t>
            </a:r>
            <a:endParaRPr lang="en-US" sz="2400" dirty="0" smtClean="0">
              <a:solidFill>
                <a:schemeClr val="bg1"/>
              </a:solidFill>
            </a:endParaRPr>
          </a:p>
          <a:p>
            <a:endParaRPr lang="en-US" sz="2400" dirty="0" smtClean="0">
              <a:solidFill>
                <a:schemeClr val="bg1"/>
              </a:solidFill>
            </a:endParaRPr>
          </a:p>
          <a:p>
            <a:endParaRPr lang="es-AR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434</Words>
  <Application>Microsoft Office PowerPoint</Application>
  <PresentationFormat>Presentación en pantalla (4:3)</PresentationFormat>
  <Paragraphs>71</Paragraphs>
  <Slides>18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19" baseType="lpstr">
      <vt:lpstr>Tema de Office</vt:lpstr>
      <vt:lpstr>Diapositiva 1</vt:lpstr>
      <vt:lpstr>Diapositiva 2</vt:lpstr>
      <vt:lpstr>Diapositiva 3</vt:lpstr>
      <vt:lpstr>Diapositiva 4</vt:lpstr>
      <vt:lpstr>Diapositiva 5</vt:lpstr>
      <vt:lpstr>Diapositiva 6</vt:lpstr>
      <vt:lpstr>Diapositiva 7</vt:lpstr>
      <vt:lpstr>Diapositiva 8</vt:lpstr>
      <vt:lpstr>Diapositiva 9</vt:lpstr>
      <vt:lpstr>Diapositiva 10</vt:lpstr>
      <vt:lpstr>Diapositiva 11</vt:lpstr>
      <vt:lpstr>Diapositiva 12</vt:lpstr>
      <vt:lpstr>Diapositiva 13</vt:lpstr>
      <vt:lpstr>Diapositiva 14</vt:lpstr>
      <vt:lpstr>Diapositiva 15</vt:lpstr>
      <vt:lpstr>Diapositiva 16</vt:lpstr>
      <vt:lpstr>Diapositiva 17</vt:lpstr>
      <vt:lpstr>Diapositiva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Javier</dc:creator>
  <cp:lastModifiedBy>Javier</cp:lastModifiedBy>
  <cp:revision>21</cp:revision>
  <dcterms:created xsi:type="dcterms:W3CDTF">2012-07-07T01:23:18Z</dcterms:created>
  <dcterms:modified xsi:type="dcterms:W3CDTF">2012-07-08T15:25:55Z</dcterms:modified>
</cp:coreProperties>
</file>